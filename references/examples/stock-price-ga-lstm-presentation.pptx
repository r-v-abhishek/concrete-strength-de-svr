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1309350" cx="20104100"/>
  <p:notesSz cx="20104100" cy="1130935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Kaushan Script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79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U/+ReW7Ejc5p56cjC0hVinSYV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287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11" Type="http://schemas.openxmlformats.org/officeDocument/2006/relationships/slide" Target="slides/slide5.xml"/><Relationship Id="rId22" Type="http://schemas.openxmlformats.org/officeDocument/2006/relationships/font" Target="fonts/KaushanScript-regular.fntdata"/><Relationship Id="rId10" Type="http://schemas.openxmlformats.org/officeDocument/2006/relationships/slide" Target="slides/slide4.xml"/><Relationship Id="rId21" Type="http://schemas.openxmlformats.org/officeDocument/2006/relationships/font" Target="fonts/PlayfairDisplay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layfairDisplay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fairDispl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283325" y="847725"/>
            <a:ext cx="7539000" cy="424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283325" y="847725"/>
            <a:ext cx="7539038" cy="4241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1" type="ftr"/>
          </p:nvPr>
        </p:nvSpPr>
        <p:spPr>
          <a:xfrm>
            <a:off x="6835777" y="10517188"/>
            <a:ext cx="643254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1004887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14474826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581027" y="407987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2746377" y="2613025"/>
            <a:ext cx="14611350" cy="227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1004887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6835777" y="10517188"/>
            <a:ext cx="643254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14474826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581025" y="407988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00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2746375" y="2613025"/>
            <a:ext cx="14611350" cy="2271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6835775" y="10517188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1004888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6835775" y="10517188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0" type="dt"/>
          </p:nvPr>
        </p:nvSpPr>
        <p:spPr>
          <a:xfrm>
            <a:off x="1004888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581025" y="407988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00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1" type="ftr"/>
          </p:nvPr>
        </p:nvSpPr>
        <p:spPr>
          <a:xfrm>
            <a:off x="6835775" y="10517188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1004888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581025" y="407988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00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6835775" y="10517188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1004888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/>
          <p:nvPr>
            <p:ph idx="11" type="ftr"/>
          </p:nvPr>
        </p:nvSpPr>
        <p:spPr>
          <a:xfrm>
            <a:off x="6835775" y="10517188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0" type="dt"/>
          </p:nvPr>
        </p:nvSpPr>
        <p:spPr>
          <a:xfrm>
            <a:off x="1004888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581027" y="407987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746377" y="2613025"/>
            <a:ext cx="14611350" cy="227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1" type="ftr"/>
          </p:nvPr>
        </p:nvSpPr>
        <p:spPr>
          <a:xfrm>
            <a:off x="6835777" y="10517188"/>
            <a:ext cx="6432549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0" type="dt"/>
          </p:nvPr>
        </p:nvSpPr>
        <p:spPr>
          <a:xfrm>
            <a:off x="1004887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14474826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/>
          <p:nvPr/>
        </p:nvSpPr>
        <p:spPr>
          <a:xfrm>
            <a:off x="0" y="11296650"/>
            <a:ext cx="20104100" cy="0"/>
          </a:xfrm>
          <a:custGeom>
            <a:rect b="b" l="l" r="r" t="t"/>
            <a:pathLst>
              <a:path extrusionOk="0" h="120000" w="2010410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cap="flat" cmpd="sng" w="22850">
            <a:solidFill>
              <a:srgbClr val="E76A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/>
          <p:nvPr/>
        </p:nvSpPr>
        <p:spPr>
          <a:xfrm>
            <a:off x="0" y="11274425"/>
            <a:ext cx="20075525" cy="0"/>
          </a:xfrm>
          <a:custGeom>
            <a:rect b="b" l="l" r="r" t="t"/>
            <a:pathLst>
              <a:path extrusionOk="0" h="120000" w="20076160">
                <a:moveTo>
                  <a:pt x="0" y="0"/>
                </a:moveTo>
                <a:lnTo>
                  <a:pt x="20076037" y="0"/>
                </a:lnTo>
              </a:path>
            </a:pathLst>
          </a:custGeom>
          <a:noFill/>
          <a:ln cap="flat" cmpd="sng" w="22850">
            <a:solidFill>
              <a:srgbClr val="E76A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4"/>
          <p:cNvSpPr/>
          <p:nvPr/>
        </p:nvSpPr>
        <p:spPr>
          <a:xfrm>
            <a:off x="28575" y="47625"/>
            <a:ext cx="0" cy="11214100"/>
          </a:xfrm>
          <a:custGeom>
            <a:rect b="b" l="l" r="r" t="t"/>
            <a:pathLst>
              <a:path extrusionOk="0" h="11215370" w="12000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cap="flat" cmpd="sng" w="56200">
            <a:solidFill>
              <a:srgbClr val="E76A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4"/>
          <p:cNvSpPr/>
          <p:nvPr/>
        </p:nvSpPr>
        <p:spPr>
          <a:xfrm>
            <a:off x="0" y="23813"/>
            <a:ext cx="20104100" cy="0"/>
          </a:xfrm>
          <a:custGeom>
            <a:rect b="b" l="l" r="r" t="t"/>
            <a:pathLst>
              <a:path extrusionOk="0" h="120000" w="2010410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cap="flat" cmpd="sng" w="46975">
            <a:solidFill>
              <a:srgbClr val="E76A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4"/>
          <p:cNvSpPr/>
          <p:nvPr/>
        </p:nvSpPr>
        <p:spPr>
          <a:xfrm>
            <a:off x="20075525" y="11261725"/>
            <a:ext cx="28575" cy="23813"/>
          </a:xfrm>
          <a:custGeom>
            <a:rect b="b" l="l" r="r" t="t"/>
            <a:pathLst>
              <a:path extrusionOk="0" h="22859" w="28575">
                <a:moveTo>
                  <a:pt x="0" y="22856"/>
                </a:moveTo>
                <a:lnTo>
                  <a:pt x="28061" y="22856"/>
                </a:lnTo>
                <a:lnTo>
                  <a:pt x="28061" y="0"/>
                </a:lnTo>
                <a:lnTo>
                  <a:pt x="0" y="0"/>
                </a:lnTo>
                <a:lnTo>
                  <a:pt x="0" y="22856"/>
                </a:lnTo>
                <a:close/>
              </a:path>
            </a:pathLst>
          </a:custGeom>
          <a:solidFill>
            <a:srgbClr val="E76A8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4"/>
          <p:cNvSpPr/>
          <p:nvPr/>
        </p:nvSpPr>
        <p:spPr>
          <a:xfrm>
            <a:off x="20075525" y="47625"/>
            <a:ext cx="0" cy="11214100"/>
          </a:xfrm>
          <a:custGeom>
            <a:rect b="b" l="l" r="r" t="t"/>
            <a:pathLst>
              <a:path extrusionOk="0" h="11215370" w="12000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cap="flat" cmpd="sng" w="56175">
            <a:solidFill>
              <a:srgbClr val="E76A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4"/>
          <p:cNvSpPr txBox="1"/>
          <p:nvPr>
            <p:ph type="title"/>
          </p:nvPr>
        </p:nvSpPr>
        <p:spPr>
          <a:xfrm>
            <a:off x="581025" y="407988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2746375" y="2613025"/>
            <a:ext cx="14611350" cy="2271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6835775" y="10517188"/>
            <a:ext cx="6432550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1004888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/>
          <p:nvPr/>
        </p:nvSpPr>
        <p:spPr>
          <a:xfrm>
            <a:off x="-65088" y="15875"/>
            <a:ext cx="20234275" cy="11309350"/>
          </a:xfrm>
          <a:prstGeom prst="rect">
            <a:avLst/>
          </a:prstGeom>
          <a:solidFill>
            <a:srgbClr val="DAEEF3">
              <a:alpha val="98431"/>
            </a:srgb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2508250" y="4249977"/>
            <a:ext cx="18249900" cy="6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Sudeep S Rajpurohit (1BM22CD064)   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Harshavardhan S (1BM22CD028)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Manoj Kumar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CSE(Data Science)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BMSCE, Bengaluru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0" y="56776"/>
            <a:ext cx="8645236" cy="6110979"/>
          </a:xfrm>
          <a:custGeom>
            <a:rect b="b" l="l" r="r" t="t"/>
            <a:pathLst>
              <a:path extrusionOk="0" h="5134610" w="7436484">
                <a:moveTo>
                  <a:pt x="7435941" y="0"/>
                </a:moveTo>
                <a:lnTo>
                  <a:pt x="0" y="0"/>
                </a:lnTo>
                <a:lnTo>
                  <a:pt x="0" y="5134513"/>
                </a:lnTo>
                <a:lnTo>
                  <a:pt x="743594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5603875" y="1336675"/>
            <a:ext cx="146050" cy="1476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2508250" y="720725"/>
            <a:ext cx="3810000" cy="1231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4634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41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4119563" y="1188663"/>
            <a:ext cx="149796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Bio Inspired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23DS6PWPP1</a:t>
            </a:r>
            <a:r>
              <a:rPr b="1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Price Prediction for Indian Banking Sector Using LSTM Neural Networks Optimized with Genetic Algorithm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b="0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>
            <p:ph idx="12" type="sldNum"/>
          </p:nvPr>
        </p:nvSpPr>
        <p:spPr>
          <a:xfrm>
            <a:off x="14474826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625" y="348456"/>
            <a:ext cx="215265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-6350" y="3759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6867525" y="358198"/>
            <a:ext cx="10134600" cy="750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008063" y="1192213"/>
            <a:ext cx="18527712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1136650" y="1844675"/>
            <a:ext cx="17962500" cy="7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14400" lvl="0" marL="91440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AutoNum type="arabicPeriod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optimization problems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0" lvl="0" marL="91440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AutoNum type="arabicPeriod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nature inspired algorithms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0" lvl="0" marL="91440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AutoNum type="arabicPeriod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0" lvl="0" marL="91440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AutoNum type="arabicPeriod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and results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0" lvl="0" marL="91440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AutoNum type="arabicPeriod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metrics and benchmarks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0" lvl="0" marL="91440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AutoNum type="arabicPeriod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limitations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0" lvl="0" marL="91440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AutoNum type="arabicPeriod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"/>
          <p:cNvSpPr txBox="1"/>
          <p:nvPr/>
        </p:nvSpPr>
        <p:spPr>
          <a:xfrm>
            <a:off x="1136650" y="460496"/>
            <a:ext cx="2628901" cy="597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7079673" y="10492779"/>
            <a:ext cx="132449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-6350" y="-18905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5050600" y="353060"/>
            <a:ext cx="10134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.Introduction to Optimization Problems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1054850" y="1746550"/>
            <a:ext cx="18480600" cy="82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●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Optimization?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○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the best solution from all possible solutions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○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Minimizing or maximizing an objective function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○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 constraints and limitations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●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Optimization Problems: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○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Continuous: Real-valued parameters (e.g., learning rate, dropout)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○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Discrete: Integer values (e.g., number of layers, neurons)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○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Mixed: Combination of both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 New Roman"/>
              <a:buChar char="○"/>
            </a:pPr>
            <a:r>
              <a:rPr b="0" i="0" lang="en-US" sz="3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Multi-objective: Multiple competing goals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62650" y="-109566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050600" y="353060"/>
            <a:ext cx="10134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.Nature Inspired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008075" y="1413950"/>
            <a:ext cx="17043300" cy="88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algorithms inspired by natural phenomena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Mimic biological, physical, or social processes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Metaheuristic approaches for complex problems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Nature-Inspired Algorithms</a:t>
            </a:r>
            <a:r>
              <a:rPr b="0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Genetic Algorithm (GA): Evolution and natural selection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Particle Swarm Optimization (PSO): Bird flocking behavior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 Colony Optimization (ACO): Ant foraging patterns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Annealing (SA): Metallurgical annealing process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Differential Evolution (DE): Population-based optimization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Advantages: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gradient information required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Escape local optima through randomization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discrete, continuous, and mixed parameters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evaluation of multiple solutions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○"/>
            </a:pPr>
            <a:r>
              <a:rPr b="0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to noisy fitness evaluations</a:t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-6350" y="-18905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5050600" y="353060"/>
            <a:ext cx="101346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.Problem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467725" y="1594050"/>
            <a:ext cx="18446100" cy="84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Challenge: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market prediction is highly complex and non-linear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networks effective but performance depends on hyperparameters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tuning is time-consuming, biased, and suboptimal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Problem: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stock prices for 5 major Indian banks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LSTM hyperparameters automatically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 superior accuracy compared to manual configuration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Banks: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HDFC Bank (HDFCBANK. NS)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ICICI Bank (ICICIBANK.NS)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Bank of India (SBIN. NS)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Axis Bank (AXISBANK.NS)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Kotak Mahindra Bank (KOTAKBANK.NS)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-6350" y="-18905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4155850" y="383850"/>
            <a:ext cx="117924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.DATASETS AND ITS PREPROCESSING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635950" y="1654500"/>
            <a:ext cx="18463200" cy="83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●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Period: 8 years (2017-2025)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Frequency: Daily closing prices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Features: 35+ (Price, Volume, Technical Indicators)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Data Points: ~2,100 per stock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●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Objectives: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GA-based hyperparameter optimization framework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chromosome encoding for LSTM parameters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 statistically significant performance improvement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practical utility through trading strategies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-6350" y="-18905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4155850" y="383850"/>
            <a:ext cx="117924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.Implementation and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072150" y="1557275"/>
            <a:ext cx="8979900" cy="8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Architecture:                                                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via Yahoo Finance API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 with technical indicators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 optimization framework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LSTM model training and evaluation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analysis and visualization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Hyperparameters Optimized (7 genes):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LSTM layers: [1-3]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Neurons in layer 1: [32-256]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Neurons in layer 2: [32-256]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rate: [0.0001-0.01]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size: [16-128]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Dropout rate: [0. 1-0.5]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Lookback window: [30-120 days]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0" name="Google Shape;150;p7"/>
          <p:cNvCxnSpPr>
            <a:stCxn id="142" idx="2"/>
          </p:cNvCxnSpPr>
          <p:nvPr/>
        </p:nvCxnSpPr>
        <p:spPr>
          <a:xfrm>
            <a:off x="10052050" y="1134750"/>
            <a:ext cx="105900" cy="925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 txBox="1"/>
          <p:nvPr/>
        </p:nvSpPr>
        <p:spPr>
          <a:xfrm>
            <a:off x="10424450" y="1578900"/>
            <a:ext cx="9111000" cy="8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●"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 Configuration: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 size: </a:t>
            </a: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individuals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Generations: 20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Crossover rate: 80%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Mutation rate: 15%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Selection: Tournament (k=3)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Char char="○"/>
            </a:pPr>
            <a:r>
              <a:rPr b="0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Elitism: Top 2 survivors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-6350" y="-18905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4155850" y="383850"/>
            <a:ext cx="117924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.Performance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072150" y="1660100"/>
            <a:ext cx="18463200" cy="83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 Used: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○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RMSE: Root Mean Square Error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○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MAE: Mean Absolute Error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○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R²: Coefficient of Determination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○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MAPE: Mean Absolute Percentage Error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Directional Accuracy: Trend prediction correctness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●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Convergence Analysis: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○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90% optimal fitness reached by generation 12-15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○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Population diversity: 0.85 → 0.32 (healthy convergence)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1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Char char="○"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 efficiency: 10. 8 minutes per individual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-6350" y="-18905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4155850" y="383850"/>
            <a:ext cx="117924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7.Advantages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072150" y="1660100"/>
            <a:ext cx="18463200" cy="83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●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Superior Accuracy: 23% improvement over manual tuning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Automation: No manual hyperparameter tuning required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Robustness: Consistent across multiple runs (low variance)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Flexibility: Handles mixed parameter types (continuous + discrete)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Utility: 65. 9% directional accuracy enables trading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Multi-objective: Balances accuracy, complexity, training time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 Easily extends to other stocks and sectors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Interpretability: Feature importance analysis available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-6350" y="-18905"/>
            <a:ext cx="20110500" cy="113094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4155850" y="383850"/>
            <a:ext cx="117924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7.Limitations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008063" y="1192213"/>
            <a:ext cx="18527395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>
            <p:ph idx="12" type="sldNum"/>
          </p:nvPr>
        </p:nvSpPr>
        <p:spPr>
          <a:xfrm>
            <a:off x="14474825" y="10517188"/>
            <a:ext cx="462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1136650" y="1844675"/>
            <a:ext cx="1796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 txBox="1"/>
          <p:nvPr/>
        </p:nvSpPr>
        <p:spPr>
          <a:xfrm>
            <a:off x="1136650" y="460496"/>
            <a:ext cx="26289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7079673" y="10492779"/>
            <a:ext cx="1324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072150" y="1660100"/>
            <a:ext cx="18463200" cy="83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●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 Cost: 4-6 hours for complete optimization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Requirements: Needs 3-5 years historical data minimum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Box: Limited interpretability of LSTM predictions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Breaks: Cannot anticipate unprecedented events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Regime Dependency: Lower accuracy during high volatility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Overfitting Risk: Requires careful validation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Retraining Needs: Quarterly updates recommended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990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Times New Roman"/>
              <a:buChar char="○"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Causal Inference: Correlations, not causation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0" y="0"/>
            <a:ext cx="20110450" cy="1130935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76200">
            <a:solidFill>
              <a:srgbClr val="0058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6894008" y="4686301"/>
            <a:ext cx="12963380" cy="112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2060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008063" y="1192213"/>
            <a:ext cx="18527712" cy="0"/>
          </a:xfrm>
          <a:custGeom>
            <a:rect b="b" l="l" r="r" t="t"/>
            <a:pathLst>
              <a:path extrusionOk="0" h="120000"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cap="flat" cmpd="sng" w="15700">
            <a:solidFill>
              <a:srgbClr val="5E6D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>
            <p:ph idx="12" type="sldNum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35" y="326737"/>
            <a:ext cx="662565" cy="80356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 txBox="1"/>
          <p:nvPr/>
        </p:nvSpPr>
        <p:spPr>
          <a:xfrm>
            <a:off x="1136650" y="460496"/>
            <a:ext cx="2628901" cy="597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B.M.S. College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7079673" y="10492779"/>
            <a:ext cx="132449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Engineering(Data Science)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RVCE_2020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